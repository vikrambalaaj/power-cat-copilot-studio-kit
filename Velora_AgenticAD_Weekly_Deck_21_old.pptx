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1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UPDATE · AUGUST 2026 · ABU DHABI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AGENT · AGENTICAD 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Agent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SAP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7C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auditable Microsoft-based agent that answers executive questions live from SAP — nine capabilities, delivered to a 30 September issuance date.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23265E"/>
          </a:solidFill>
          <a:ln w="12700">
            <a:solidFill>
              <a:srgbClr val="4548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280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4828032"/>
            <a:ext cx="8275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access rights. Every answer is trimmed by the user's existing SAP authorisations and recorded on both sides — auditable end to end. This week's MCP server build carries that principle into the SAP integration layer itself.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949440" y="6400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Velora · Abu Dhabi, United Arab Emirates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CAPABILITY COVERAGE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agent — nine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9F5E5"/>
          </a:solidFill>
          <a:ln w="12700">
            <a:solidFill>
              <a:srgbClr val="4C9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280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298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BF0DD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1280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29844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BE3E9"/>
          </a:solidFill>
          <a:ln w="12700">
            <a:solidFill>
              <a:srgbClr val="B23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2801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280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covered · 2 partial · 2 next phase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8013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QUERY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8920" y="181965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4C9A3A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1819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" y="222199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AR, AP, P&amp;L, budget variance, Emiratisation, headcount — answered from SAP, trimmed to the executive's own permissions.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18013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RECOMMENDATION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81965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4C9A3A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819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25112" y="222199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on the six agreed KPIs. On an Emiratisation review it flags hiring/headcount and the change % unprompted.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18013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1801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ENGINE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104120" y="1819656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4C9A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4120" y="1819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982712" y="222199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against existing data — e.g. Emiratisation at 80% of the UAE standard, current vs target.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3236976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" y="33467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43000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&amp; SYNTHESIS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88920" y="33649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4C9A3A"/>
          </a:solidFill>
          <a:ln/>
        </p:spPr>
      </p:sp>
      <p:sp>
        <p:nvSpPr>
          <p:cNvPr id="36" name="Text 34"/>
          <p:cNvSpPr/>
          <p:nvPr/>
        </p:nvSpPr>
        <p:spPr>
          <a:xfrm>
            <a:off x="27889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7512" y="3767328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the executive inbox for briefs, digests and synthesis ahead of meetings.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160520" y="3236976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BE3E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33467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00600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CREATION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46520" y="33649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B23A5B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25112" y="3767328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until data governance is in place, so agents are created within a governed scope.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818120" y="3236976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82712" y="33467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58200" y="3346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104120" y="3364992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4C9A3A"/>
          </a:solidFill>
          <a:ln/>
        </p:spPr>
      </p:sp>
      <p:sp>
        <p:nvSpPr>
          <p:cNvPr id="48" name="Text 46"/>
          <p:cNvSpPr/>
          <p:nvPr/>
        </p:nvSpPr>
        <p:spPr>
          <a:xfrm>
            <a:off x="1010412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82712" y="3767328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and documents searchable for executives and their successors from go-live.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02920" y="478231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BF0D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" y="4892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4300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788920" y="491032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54" name="Text 52"/>
          <p:cNvSpPr/>
          <p:nvPr/>
        </p:nvSpPr>
        <p:spPr>
          <a:xfrm>
            <a:off x="2788920" y="4910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7512" y="5312664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and action tracking covered. Completely covered with an external party (MDS) for live call-join and follow-up.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60520" y="478231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BE3E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5112" y="4892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80060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446520" y="491032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B23A5B"/>
          </a:solidFill>
          <a:ln/>
        </p:spPr>
      </p:sp>
      <p:sp>
        <p:nvSpPr>
          <p:cNvPr id="60" name="Text 58"/>
          <p:cNvSpPr/>
          <p:nvPr/>
        </p:nvSpPr>
        <p:spPr>
          <a:xfrm>
            <a:off x="6446520" y="4910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325112" y="5312664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until approved benchmark data is provided.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818120" y="478231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BF0D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82712" y="48920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5820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TRACEABILITY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104120" y="491032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66" name="Text 64"/>
          <p:cNvSpPr/>
          <p:nvPr/>
        </p:nvSpPr>
        <p:spPr>
          <a:xfrm>
            <a:off x="10104120" y="4910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982712" y="5312664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Copilot-side covered. Completely covered when Purview is provisioned — full dual audit.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AgenticAD Executive Agent · Phase 1 coverage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DELEGATED IDENTITY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Executive Agent — end to 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pic>
        <p:nvPicPr>
          <p:cNvPr id="7" name="Image 0" descr="/home/claude/work/arc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808" y="1280160"/>
            <a:ext cx="8412480" cy="42885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5742432"/>
            <a:ext cx="292608" cy="0"/>
          </a:xfrm>
          <a:prstGeom prst="line">
            <a:avLst/>
          </a:prstGeom>
          <a:noFill/>
          <a:ln w="25400">
            <a:solidFill>
              <a:srgbClr val="2E319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data call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41448" y="5742432"/>
            <a:ext cx="292608" cy="0"/>
          </a:xfrm>
          <a:prstGeom prst="line">
            <a:avLst/>
          </a:prstGeom>
          <a:noFill/>
          <a:ln w="25400">
            <a:solidFill>
              <a:srgbClr val="C13FA8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2788920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trust / delegation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52974" y="5742432"/>
            <a:ext cx="292608" cy="0"/>
          </a:xfrm>
          <a:prstGeom prst="line">
            <a:avLst/>
          </a:prstGeom>
          <a:noFill/>
          <a:ln w="25400">
            <a:solidFill>
              <a:srgbClr val="8A8FBF"/>
            </a:solidFill>
            <a:prstDash val="sysDot"/>
          </a:ln>
        </p:spPr>
      </p:sp>
      <p:sp>
        <p:nvSpPr>
          <p:cNvPr id="13" name="Text 10"/>
          <p:cNvSpPr/>
          <p:nvPr/>
        </p:nvSpPr>
        <p:spPr>
          <a:xfrm>
            <a:off x="5400446" y="5596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telemetry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943600"/>
            <a:ext cx="10607040" cy="457200"/>
          </a:xfrm>
          <a:prstGeom prst="roundRect">
            <a:avLst>
              <a:gd name="adj" fmla="val 16000"/>
            </a:avLst>
          </a:prstGeom>
          <a:solidFill>
            <a:srgbClr val="E9EAF6"/>
          </a:solidFill>
          <a:ln w="12700">
            <a:solidFill>
              <a:srgbClr val="D8DA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9436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access —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runs in SAP as the named executive, trimmed by the user's own PFCG/RBP authorisations, and recorded twice — SAP's Read-Access Log and Purview.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delegated identity · no service account on the interactive read path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ACTIVITIES · COVERED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executive queries, live from SAP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SAP-side services are active and ready. The executive asks in M365 Copilot; the agent queries S/4HANA and SuccessFactors under the executive's own SAP roles and returns a sourced, permission-trimmed answer.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29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" y="23042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2578608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and position-count queries, trimmed by SuccessFactors role-based permissions.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9992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 · EmpJob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1920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029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25112" y="23042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Emiratisation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25112" y="2578608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Emiratisation ratio served as an aggregate KPI only — the PDPL rule enforced by design, no personal records.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25112" y="29992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SuccessFactors OData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18120" y="192024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82712" y="20299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82712" y="230428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/ Revenue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82712" y="2578608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aging buckets — who owes what, how overdue — without raising a report request.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82712" y="299923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· FI Accounts Receivable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419856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529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" y="3803904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Payables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" y="4078224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payables and their aging — upcoming payment exposure visible in one question.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7512" y="449884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· FI Accounts Payable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3419856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5112" y="3529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325112" y="3803904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25112" y="4078224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profit &amp; loss view on demand — revenue, cost and margin by period, from the finance ledger.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25112" y="449884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· Finance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18120" y="3419856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2712" y="352958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9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982712" y="3803904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82712" y="4078224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with the variance drivers, cited to source.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82712" y="4498848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· Finance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" y="507492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2E3192"/>
          </a:solidFill>
          <a:ln w="12700">
            <a:solidFill>
              <a:srgbClr val="2E319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door: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Copilot / Teams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50749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Permission-trimmed at source —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PFCG &amp; RBP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5074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· sources · confidence → C9 audit log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C1 Enterprise Data Query · SAP services active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this week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63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562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130552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SAP S/4HANA — built and confirmed working.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for SAP SuccessFactors — built and integrated with QA data; testing in progress.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working session held with the infra team.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14173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563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3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next week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8562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coming week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43400" y="2130552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SAP DEV/QA and complete unit testing on both MCP servers.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MCP server(s) to Azure Container Apps.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SAP data routes via the intranet/private path, not the public internet.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Cyber Security for a firm VM/container/Dataverse sign-off date.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to supply the Emiratisation data source; ADD to supply the audit format.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14173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FBE3E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1563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blockers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01000" y="185623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called out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01000" y="2130552"/>
            <a:ext cx="3154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DEV/QA environment down since Mon 3 Aug — still down; blocking unit testing.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VM/container/Dataverse — infra complete, Cyber Security sign-off pending.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MCP server holds QA data only; PROD connection needs approval.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Emiratisation % not tracked by HR function today — must be supplied.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audit storage/reporting format awaited from ADD.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512064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E9EAF6"/>
          </a:solidFill>
          <a:ln w="12700">
            <a:solidFill>
              <a:srgbClr val="D8DA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206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in Sprint 1 · Spine &amp; SAP.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MCP-based SAP integration is built and testing; Sprint 0's environment/security items are still open and are now the pacing risk alongside the DEV/QA outage.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AgenticAD Executive Agent · weekly status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TRACKING · NEW THIS WEEK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vs. actual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anchor: 15 July 2026 (confirmed).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is measured against the Sprint 0–5 schedule issued at kickoff.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BE3E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· Foundations gate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837944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B23A5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8379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1671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buNone/>
            </a:pPr>
            <a:r>
              <a:rPr lang="en-US" sz="11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Jul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Cyber Security sign-off pending on VM / container / Dataverse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Deviation: </a:t>
            </a:r>
            <a:pPr indent="0" marL="0">
              <a:buNone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working days behind, still open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169164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BF0D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Sprint 1 exit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0" y="1837944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183794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21671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buNone/>
            </a:pPr>
            <a:r>
              <a:rPr lang="en-US" sz="11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Aug 2026 — closes today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4231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built; unit testing incomplete — SAP DEV/QA down since Mon 3 Aug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80760" y="29626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Deviation: </a:t>
            </a:r>
            <a:pPr indent="0" marL="0">
              <a:buNone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 of slipping past today's baseline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20440"/>
          <a:ext cx="10607040" cy="2697480"/>
        </p:xfrm>
        <a:graphic>
          <a:graphicData uri="http://schemas.openxmlformats.org/drawingml/2006/table">
            <a:tbl>
              <a:tblPr/>
              <a:tblGrid>
                <a:gridCol w="3749040"/>
                <a:gridCol w="1554480"/>
                <a:gridCol w="4023360"/>
                <a:gridCol w="1280160"/>
              </a:tblGrid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week's 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 — Sprint 2 exit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Aug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— Development complete (code freeze)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M4 — System test 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M5 — Executive UAT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M6 — Deployed / issued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ADAA deadline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5-day buffer intact — under pressure from M0/M1 slip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schedule baseline vs actual · interactive toggle in the HTML file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· ARCHITECTURE &amp; DEVELOPMENT 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need, and by when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older than 5 working days escalate to the sponsor. Completed items shown in green.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19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licences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931920" y="18288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E319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 Jul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221992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M365 Copilot — provided (3 dev/test + 1 CEO).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Platform premium + Dataverse — Dataverse is the ADAA audit database.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Entra ID P1/P2 — already in place by default.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169164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BE3E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819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access &amp; workspace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326880" y="182880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18288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41280" y="182880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E3192"/>
          </a:solidFill>
          <a:ln/>
        </p:spPr>
      </p:sp>
      <p:sp>
        <p:nvSpPr>
          <p:cNvPr id="20" name="Text 18"/>
          <p:cNvSpPr/>
          <p:nvPr/>
        </p:nvSpPr>
        <p:spPr>
          <a:xfrm>
            <a:off x="1024128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2221992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VM, container app environment &amp; Dataverse — infra build complete.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pending Cyber Security review and sign-off — this week's critical path.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access — Client ID + Client secret for the on-behalf-of flow.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access — audit-log read for the dual audit trail.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9F5E5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&amp; SAP readiness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931920" y="393192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LEAD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9319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E3192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325112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SAP-side enablement — OData for six queries, least-privilege user. Active &amp; ready.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SAP S/4 MCP server — built and working.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SuccessFactors MCP server — built, QA data connected; PROD access needs approval.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9788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E9EAF6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922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confirmations · AgenticAD PMO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9326880" y="3931920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B8791A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41280" y="3931920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2E3192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128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15 Aug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4325112"/>
            <a:ext cx="48463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rule — executive-created agents count as “without IT involvement”.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ADAA evidence format — how evidence is packaged; pack built per capability.</a:t>
            </a:r>
            <a:endParaRPr lang="en-US" sz="1000" dirty="0"/>
          </a:p>
          <a:p>
            <a:pPr marL="342900" indent="-342900">
              <a:lnSpc>
                <a:spcPts val="125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audit storage &amp; reporting format — requested from ADD, awaited.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</a:t>
            </a:r>
            <a:pPr indent="0" marL="0">
              <a:buNone/>
            </a:pPr>
            <a:r>
              <a:rPr lang="en-US" sz="110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sign-off on VM/container/Dataverse, and the SAP DEV/QA outage, are the two items pacing this week's build.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prerequisites · owners &amp; target dates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BOARD · WHO IS DOING WHAT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sprints — all tasks, owners &amp; status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243584"/>
            <a:ext cx="237744" cy="137160"/>
          </a:xfrm>
          <a:prstGeom prst="roundRect">
            <a:avLst>
              <a:gd name="adj" fmla="val 20000"/>
            </a:avLst>
          </a:prstGeom>
          <a:solidFill>
            <a:srgbClr val="4C9A3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179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243584"/>
            <a:ext cx="237744" cy="137160"/>
          </a:xfrm>
          <a:prstGeom prst="roundRect">
            <a:avLst>
              <a:gd name="adj" fmla="val 20000"/>
            </a:avLst>
          </a:prstGeom>
          <a:solidFill>
            <a:srgbClr val="3B3F8C"/>
          </a:solidFill>
          <a:ln/>
        </p:spPr>
      </p:sp>
      <p:sp>
        <p:nvSpPr>
          <p:cNvPr id="10" name="Text 8"/>
          <p:cNvSpPr/>
          <p:nvPr/>
        </p:nvSpPr>
        <p:spPr>
          <a:xfrm>
            <a:off x="2075688" y="1179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243584"/>
            <a:ext cx="237744" cy="137160"/>
          </a:xfrm>
          <a:prstGeom prst="roundRect">
            <a:avLst>
              <a:gd name="adj" fmla="val 20000"/>
            </a:avLst>
          </a:prstGeom>
          <a:solidFill>
            <a:srgbClr val="C7CBEE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179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243584"/>
            <a:ext cx="237744" cy="137160"/>
          </a:xfrm>
          <a:prstGeom prst="roundRect">
            <a:avLst>
              <a:gd name="adj" fmla="val 20000"/>
            </a:avLst>
          </a:prstGeom>
          <a:solidFill>
            <a:srgbClr val="B2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11795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0" y="11795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tasks across S0–S5 · full sprint &amp; owner filters in the interactive HTML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1536192"/>
            <a:ext cx="6537960" cy="214884"/>
          </a:xfrm>
          <a:prstGeom prst="rect">
            <a:avLst/>
          </a:prstGeom>
          <a:solidFill>
            <a:srgbClr val="E9EAF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536192"/>
            <a:ext cx="4480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&amp; ENVIRONMENTS · S0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0" y="1536192"/>
            <a:ext cx="19202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· Cyber Sec pending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175107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Delivery baseline, sprint plan &amp; kickoff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5074920" y="1751076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PMO Lead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6035040" y="1783080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195681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Licence position &amp; capacity forecast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074920" y="1956816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PMO Lead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6035040" y="1988820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16255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· Power Platform Dev/Test/Prod, DLP &amp; ALM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074920" y="2162556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035040" y="2194560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B2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36829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· Dataverse solution shell &amp; logging schema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5074920" y="2368296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B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035040" y="2400300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B23A5B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57403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Security baseline — Purview, conditional access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5074920" y="2574036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Lead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035040" y="2606040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B23A5B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2779776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· Developer workstation &amp; named tenant identity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5074920" y="2779776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035040" y="2811780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B23A5B"/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" y="3031236"/>
            <a:ext cx="6537960" cy="214884"/>
          </a:xfrm>
          <a:prstGeom prst="rect">
            <a:avLst/>
          </a:prstGeom>
          <a:solidFill>
            <a:srgbClr val="E9EAF6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031236"/>
            <a:ext cx="4480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READINESS · S0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3031236"/>
            <a:ext cx="19202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complete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" y="3246120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Integration lead nominated; OData list drafted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5074920" y="324612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Lead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035040" y="3278124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451860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Least-privilege technical user created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5074920" y="345186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Lead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6035040" y="3483864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657600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OData services activated for the six queries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5074920" y="365760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Lead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6035040" y="3689604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3863340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Network path confirmed — private endpoint</a:t>
            </a:r>
            <a:endParaRPr lang="en-US" sz="870" dirty="0"/>
          </a:p>
        </p:txBody>
      </p:sp>
      <p:sp>
        <p:nvSpPr>
          <p:cNvPr id="50" name="Text 48"/>
          <p:cNvSpPr/>
          <p:nvPr/>
        </p:nvSpPr>
        <p:spPr>
          <a:xfrm>
            <a:off x="5074920" y="386334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035040" y="3895344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" y="4069080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· Representative demo dataset agreed (fallback)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5074920" y="4069080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Owner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6035040" y="4101084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55" name="Shape 53"/>
          <p:cNvSpPr/>
          <p:nvPr/>
        </p:nvSpPr>
        <p:spPr>
          <a:xfrm>
            <a:off x="502920" y="4320540"/>
            <a:ext cx="6537960" cy="214884"/>
          </a:xfrm>
          <a:prstGeom prst="rect">
            <a:avLst/>
          </a:prstGeom>
          <a:solidFill>
            <a:srgbClr val="E9EAF6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" y="4320540"/>
            <a:ext cx="44805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 · SPINE &amp; SAP · S0–S1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029200" y="4320540"/>
            <a:ext cx="192024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· MCP layer live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94360" y="453542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Master Agent shell baselined (Copilot Studio)</a:t>
            </a:r>
            <a:endParaRPr lang="en-US" sz="870" dirty="0"/>
          </a:p>
        </p:txBody>
      </p:sp>
      <p:sp>
        <p:nvSpPr>
          <p:cNvPr id="59" name="Text 57"/>
          <p:cNvSpPr/>
          <p:nvPr/>
        </p:nvSpPr>
        <p:spPr>
          <a:xfrm>
            <a:off x="5074920" y="453542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PMO Lead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6035040" y="456742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61" name="Text 59"/>
          <p:cNvSpPr/>
          <p:nvPr/>
        </p:nvSpPr>
        <p:spPr>
          <a:xfrm>
            <a:off x="594360" y="474116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C9 Decision Traceability — reasoning, sources</a:t>
            </a:r>
            <a:endParaRPr lang="en-US" sz="870" dirty="0"/>
          </a:p>
        </p:txBody>
      </p:sp>
      <p:sp>
        <p:nvSpPr>
          <p:cNvPr id="62" name="Text 60"/>
          <p:cNvSpPr/>
          <p:nvPr/>
        </p:nvSpPr>
        <p:spPr>
          <a:xfrm>
            <a:off x="5074920" y="474116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B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035040" y="477316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3B3F8C"/>
          </a:solidFill>
          <a:ln/>
        </p:spPr>
      </p:sp>
      <p:sp>
        <p:nvSpPr>
          <p:cNvPr id="64" name="Text 62"/>
          <p:cNvSpPr/>
          <p:nvPr/>
        </p:nvSpPr>
        <p:spPr>
          <a:xfrm>
            <a:off x="594360" y="494690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SAP S/4 MCP server built &amp; working</a:t>
            </a:r>
            <a:endParaRPr lang="en-US" sz="870" dirty="0"/>
          </a:p>
        </p:txBody>
      </p:sp>
      <p:sp>
        <p:nvSpPr>
          <p:cNvPr id="65" name="Text 63"/>
          <p:cNvSpPr/>
          <p:nvPr/>
        </p:nvSpPr>
        <p:spPr>
          <a:xfrm>
            <a:off x="5074920" y="494690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B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035040" y="497890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4C9A3A"/>
          </a:solidFill>
          <a:ln/>
        </p:spPr>
      </p:sp>
      <p:sp>
        <p:nvSpPr>
          <p:cNvPr id="67" name="Text 65"/>
          <p:cNvSpPr/>
          <p:nvPr/>
        </p:nvSpPr>
        <p:spPr>
          <a:xfrm>
            <a:off x="594360" y="515264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SAP SF MCP server — QA data; PROD pending</a:t>
            </a:r>
            <a:endParaRPr lang="en-US" sz="870" dirty="0"/>
          </a:p>
        </p:txBody>
      </p:sp>
      <p:sp>
        <p:nvSpPr>
          <p:cNvPr id="68" name="Text 66"/>
          <p:cNvSpPr/>
          <p:nvPr/>
        </p:nvSpPr>
        <p:spPr>
          <a:xfrm>
            <a:off x="5074920" y="515264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B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6035040" y="518464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3B3F8C"/>
          </a:solidFill>
          <a:ln/>
        </p:spPr>
      </p:sp>
      <p:sp>
        <p:nvSpPr>
          <p:cNvPr id="70" name="Text 68"/>
          <p:cNvSpPr/>
          <p:nvPr/>
        </p:nvSpPr>
        <p:spPr>
          <a:xfrm>
            <a:off x="594360" y="535838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C1 Enterprise Data Query — SAP OData connection</a:t>
            </a:r>
            <a:endParaRPr lang="en-US" sz="870" dirty="0"/>
          </a:p>
        </p:txBody>
      </p:sp>
      <p:sp>
        <p:nvSpPr>
          <p:cNvPr id="71" name="Text 69"/>
          <p:cNvSpPr/>
          <p:nvPr/>
        </p:nvSpPr>
        <p:spPr>
          <a:xfrm>
            <a:off x="5074920" y="535838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B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6035040" y="539038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3B3F8C"/>
          </a:solidFill>
          <a:ln/>
        </p:spPr>
      </p:sp>
      <p:sp>
        <p:nvSpPr>
          <p:cNvPr id="73" name="Text 71"/>
          <p:cNvSpPr/>
          <p:nvPr/>
        </p:nvSpPr>
        <p:spPr>
          <a:xfrm>
            <a:off x="594360" y="556412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· C4 Briefing &amp; Synthesis — Copilot native config</a:t>
            </a:r>
            <a:endParaRPr lang="en-US" sz="870" dirty="0"/>
          </a:p>
        </p:txBody>
      </p:sp>
      <p:sp>
        <p:nvSpPr>
          <p:cNvPr id="74" name="Text 72"/>
          <p:cNvSpPr/>
          <p:nvPr/>
        </p:nvSpPr>
        <p:spPr>
          <a:xfrm>
            <a:off x="5074920" y="556412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A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6035040" y="559612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C7CBEE"/>
          </a:solidFill>
          <a:ln/>
        </p:spPr>
      </p:sp>
      <p:sp>
        <p:nvSpPr>
          <p:cNvPr id="76" name="Text 74"/>
          <p:cNvSpPr/>
          <p:nvPr/>
        </p:nvSpPr>
        <p:spPr>
          <a:xfrm>
            <a:off x="594360" y="576986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· Master Agent orchestration v1</a:t>
            </a:r>
            <a:endParaRPr lang="en-US" sz="870" dirty="0"/>
          </a:p>
        </p:txBody>
      </p:sp>
      <p:sp>
        <p:nvSpPr>
          <p:cNvPr id="77" name="Text 75"/>
          <p:cNvSpPr/>
          <p:nvPr/>
        </p:nvSpPr>
        <p:spPr>
          <a:xfrm>
            <a:off x="5074920" y="576986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Maker A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6035040" y="580186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C7CBEE"/>
          </a:solidFill>
          <a:ln/>
        </p:spPr>
      </p:sp>
      <p:sp>
        <p:nvSpPr>
          <p:cNvPr id="79" name="Text 77"/>
          <p:cNvSpPr/>
          <p:nvPr/>
        </p:nvSpPr>
        <p:spPr>
          <a:xfrm>
            <a:off x="594360" y="5975604"/>
            <a:ext cx="44348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· Leave handover — deputy brief</a:t>
            </a:r>
            <a:endParaRPr lang="en-US" sz="870" dirty="0"/>
          </a:p>
        </p:txBody>
      </p:sp>
      <p:sp>
        <p:nvSpPr>
          <p:cNvPr id="80" name="Text 78"/>
          <p:cNvSpPr/>
          <p:nvPr/>
        </p:nvSpPr>
        <p:spPr>
          <a:xfrm>
            <a:off x="5074920" y="5975604"/>
            <a:ext cx="914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4C9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PMO Lead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6035040" y="6007608"/>
            <a:ext cx="960120" cy="141732"/>
          </a:xfrm>
          <a:prstGeom prst="roundRect">
            <a:avLst>
              <a:gd name="adj" fmla="val 22581"/>
            </a:avLst>
          </a:prstGeom>
          <a:solidFill>
            <a:srgbClr val="C7CBEE"/>
          </a:solidFill>
          <a:ln/>
        </p:spPr>
      </p:sp>
      <p:sp>
        <p:nvSpPr>
          <p:cNvPr id="82" name="Shape 80"/>
          <p:cNvSpPr/>
          <p:nvPr/>
        </p:nvSpPr>
        <p:spPr>
          <a:xfrm>
            <a:off x="7223760" y="1536192"/>
            <a:ext cx="3913632" cy="1078992"/>
          </a:xfrm>
          <a:prstGeom prst="roundRect">
            <a:avLst>
              <a:gd name="adj" fmla="val 6780"/>
            </a:avLst>
          </a:prstGeom>
          <a:solidFill>
            <a:srgbClr val="F7F8FC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60920" y="162763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· S2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0131552" y="1636776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C7CBEE"/>
          </a:solidFill>
          <a:ln/>
        </p:spPr>
      </p:sp>
      <p:sp>
        <p:nvSpPr>
          <p:cNvPr id="85" name="Text 83"/>
          <p:cNvSpPr/>
          <p:nvPr/>
        </p:nvSpPr>
        <p:spPr>
          <a:xfrm>
            <a:off x="10131552" y="16367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360920" y="188366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tasks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360920" y="206654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recommendation engine, C7 flows, C5 logging, C1 hardening — Maker B</a:t>
            </a:r>
            <a:endParaRPr lang="en-US" sz="870" dirty="0"/>
          </a:p>
        </p:txBody>
      </p:sp>
      <p:sp>
        <p:nvSpPr>
          <p:cNvPr id="88" name="Shape 86"/>
          <p:cNvSpPr/>
          <p:nvPr/>
        </p:nvSpPr>
        <p:spPr>
          <a:xfrm>
            <a:off x="7223760" y="2724912"/>
            <a:ext cx="3913632" cy="1078992"/>
          </a:xfrm>
          <a:prstGeom prst="roundRect">
            <a:avLst>
              <a:gd name="adj" fmla="val 6780"/>
            </a:avLst>
          </a:prstGeom>
          <a:solidFill>
            <a:srgbClr val="F7F8FC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60920" y="281635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LAYER · S3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131552" y="2825496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C7CBEE"/>
          </a:solidFill>
          <a:ln/>
        </p:spPr>
      </p:sp>
      <p:sp>
        <p:nvSpPr>
          <p:cNvPr id="91" name="Text 89"/>
          <p:cNvSpPr/>
          <p:nvPr/>
        </p:nvSpPr>
        <p:spPr>
          <a:xfrm>
            <a:off x="10131552" y="28254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360920" y="307238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tasks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360920" y="325526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Evaluation, C6 Institutional Memory, C5 journey, C8 Benchmarking — Maker A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7223760" y="3913632"/>
            <a:ext cx="3913632" cy="1078992"/>
          </a:xfrm>
          <a:prstGeom prst="roundRect">
            <a:avLst>
              <a:gd name="adj" fmla="val 6780"/>
            </a:avLst>
          </a:prstGeom>
          <a:solidFill>
            <a:srgbClr val="F7F8FC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60920" y="400507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 · S4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0131552" y="4014216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C7CBEE"/>
          </a:solidFill>
          <a:ln/>
        </p:spPr>
      </p:sp>
      <p:sp>
        <p:nvSpPr>
          <p:cNvPr id="97" name="Text 95"/>
          <p:cNvSpPr/>
          <p:nvPr/>
        </p:nvSpPr>
        <p:spPr>
          <a:xfrm>
            <a:off x="10131552" y="401421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7360920" y="426110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task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7360920" y="444398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scripts, regression, security &amp; injection probes — Security Lead</a:t>
            </a:r>
            <a:endParaRPr lang="en-US" sz="870" dirty="0"/>
          </a:p>
        </p:txBody>
      </p:sp>
      <p:sp>
        <p:nvSpPr>
          <p:cNvPr id="100" name="Shape 98"/>
          <p:cNvSpPr/>
          <p:nvPr/>
        </p:nvSpPr>
        <p:spPr>
          <a:xfrm>
            <a:off x="7223760" y="5102352"/>
            <a:ext cx="3913632" cy="1078992"/>
          </a:xfrm>
          <a:prstGeom prst="roundRect">
            <a:avLst>
              <a:gd name="adj" fmla="val 6780"/>
            </a:avLst>
          </a:prstGeom>
          <a:solidFill>
            <a:srgbClr val="F7F8FC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60920" y="519379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&amp; DEPLOY · S5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0131552" y="5202936"/>
            <a:ext cx="868680" cy="274320"/>
          </a:xfrm>
          <a:prstGeom prst="roundRect">
            <a:avLst>
              <a:gd name="adj" fmla="val 20000"/>
            </a:avLst>
          </a:prstGeom>
          <a:solidFill>
            <a:srgbClr val="C7CBEE"/>
          </a:solidFill>
          <a:ln/>
        </p:spPr>
      </p:sp>
      <p:sp>
        <p:nvSpPr>
          <p:cNvPr id="103" name="Text 101"/>
          <p:cNvSpPr/>
          <p:nvPr/>
        </p:nvSpPr>
        <p:spPr>
          <a:xfrm>
            <a:off x="10131552" y="52029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7360920" y="5449824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tasks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7360920" y="563270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7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UAT, production deploy, Adoption Index, hypercare, evidence pack</a:t>
            </a:r>
            <a:endParaRPr lang="en-US" sz="870" dirty="0"/>
          </a:p>
        </p:txBody>
      </p:sp>
      <p:sp>
        <p:nvSpPr>
          <p:cNvPr id="106" name="Shape 104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delivery board · owners &amp; status · full interactive board in the HTML file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869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issues under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46920" y="2926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فيلورا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46920" y="475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E31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Velora </a:t>
            </a:r>
            <a:pPr algn="r" indent="0" marL="0">
              <a:buNone/>
            </a:pPr>
            <a:r>
              <a:rPr lang="en-US" sz="1700" b="1" dirty="0">
                <a:solidFill>
                  <a:srgbClr val="2FB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46920" y="749808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00" kern="0" dirty="0">
                <a:solidFill>
                  <a:srgbClr val="2F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EVERY JOURNEY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ISSUE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3716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&amp; POSITION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16459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outstanding beyond the escalation threshold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664208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E3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642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89320" y="164592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Infra-side build (VM/container/Dataverse) complete. Now blocked on Cyber Security review — recommend a named owner and date.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04825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20482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DEV/QA environment down, blocking unit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2066544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E3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06654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2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204825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since Mon 3 Aug. Needed to complete MCP server unit testing for C1/C9.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45059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245059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OData exposure / technical user delayed by hypercare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468880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E9F5E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246888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245059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— SAP OData for the six queries, plus SAC, active. MCP servers now built on top.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28529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R9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1560" y="28529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Emiratisation % not maintained in SAP SuccessFactors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2871216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87121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285292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currently tracked by the HR function. HR to supply source and refresh cadence before C1/C3 can serve it as SAP-governed.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25526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51560" y="32552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audit trail storage &amp; reporting design open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0" y="3273552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2735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9320" y="325526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to be provided by ADD — requested, not yet received. Target design already specified in the Architect Brief.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36576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51560" y="36576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 MCP server connected to QA data only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0" y="3675888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6758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9320" y="36576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data connection requires approval before this capability can move beyond testing.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0599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51560" y="40599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reading of the sub-agent requirement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4078224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407822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89320" y="405993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confirmation requested and chased weekly. Fallback design already scoped.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44622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51560" y="44622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leave thins build capacity in the critical window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0" y="4480560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49" name="Text 47"/>
          <p:cNvSpPr/>
          <p:nvPr/>
        </p:nvSpPr>
        <p:spPr>
          <a:xfrm>
            <a:off x="5029200" y="44805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89320" y="446227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sequenced before leave; Sprint 2 developer-only; Deputy carries the delivery tier.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" y="486460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51560" y="48646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reporting template arrives late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0" y="4882896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54" name="Text 52"/>
          <p:cNvSpPr/>
          <p:nvPr/>
        </p:nvSpPr>
        <p:spPr>
          <a:xfrm>
            <a:off x="5029200" y="4882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989320" y="4864608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telemetry instrumented now so most index formulas are computable retrospectively.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2920" y="526694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51560" y="526694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or data exfiltration via connected paths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5285232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FBF0DD"/>
          </a:solidFill>
          <a:ln/>
        </p:spPr>
      </p:sp>
      <p:sp>
        <p:nvSpPr>
          <p:cNvPr id="59" name="Text 57"/>
          <p:cNvSpPr/>
          <p:nvPr/>
        </p:nvSpPr>
        <p:spPr>
          <a:xfrm>
            <a:off x="5029200" y="52852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89320" y="526694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privilege, permission trimming, DLP; MCP endpoints now live — Sprint 4 test scope to include container isolation &amp; transport security checks.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02920" y="566928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51560" y="5669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burn on the daily autonomous scan exceeds forecast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029200" y="5687568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E9F5E5"/>
          </a:solidFill>
          <a:ln/>
        </p:spPr>
      </p:sp>
      <p:sp>
        <p:nvSpPr>
          <p:cNvPr id="64" name="Text 62"/>
          <p:cNvSpPr/>
          <p:nvPr/>
        </p:nvSpPr>
        <p:spPr>
          <a:xfrm>
            <a:off x="5029200" y="56875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989320" y="566928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prepared; scan scope and frequency tunable. Checkpoint mid Sprint 2.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02920" y="607161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051560" y="607161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b="1" dirty="0">
                <a:solidFill>
                  <a:srgbClr val="2E3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format unknown — demo, document or site visit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029200" y="6089904"/>
            <a:ext cx="777240" cy="219456"/>
          </a:xfrm>
          <a:prstGeom prst="roundRect">
            <a:avLst>
              <a:gd name="adj" fmla="val 20833"/>
            </a:avLst>
          </a:prstGeom>
          <a:solidFill>
            <a:srgbClr val="E9F5E5"/>
          </a:solidFill>
          <a:ln/>
        </p:spPr>
      </p:sp>
      <p:sp>
        <p:nvSpPr>
          <p:cNvPr id="69" name="Text 67"/>
          <p:cNvSpPr/>
          <p:nvPr/>
        </p:nvSpPr>
        <p:spPr>
          <a:xfrm>
            <a:off x="5029200" y="60899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989320" y="6071616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1E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 built per capability from Sprint 1 so any format can be served.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6455664"/>
            <a:ext cx="11274552" cy="0"/>
          </a:xfrm>
          <a:prstGeom prst="line">
            <a:avLst/>
          </a:prstGeom>
          <a:noFill/>
          <a:ln w="9525">
            <a:solidFill>
              <a:srgbClr val="E2E5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Velora · RAID · R8/R12 red · R2/R4/R6 green · remainder amber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August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2026-08-06T16:31:16Z</dcterms:created>
  <dcterms:modified xsi:type="dcterms:W3CDTF">2026-08-06T16:31:16Z</dcterms:modified>
</cp:coreProperties>
</file>