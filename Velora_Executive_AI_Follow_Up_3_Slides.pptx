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LORA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9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VELORA  |  EXECUTIVE AI AGENT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•  26 AUGUST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65992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565392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A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Velora SOR v1.0; internal weekly update 21 Aug 2026; Protiviti proposal; MeshX SOW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B7A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B7A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484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1 OF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8912" y="69494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Nine-capability coverage: current, future and vendors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view as of the 30 September 2026 milestone (date to confirm)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545336"/>
          <a:ext cx="11301984" cy="4370832"/>
        </p:xfrm>
        <a:graphic>
          <a:graphicData uri="http://schemas.openxmlformats.org/drawingml/2006/table">
            <a:tbl>
              <a:tblPr/>
              <a:tblGrid>
                <a:gridCol w="1975104"/>
                <a:gridCol w="2212848"/>
                <a:gridCol w="2359152"/>
                <a:gridCol w="2487168"/>
                <a:gridCol w="2267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 by 30 Sep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 beyond Sep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Protiviti claim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MeshX scope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C1  Enterprise data query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6 SAP queries live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Expand via SAP BDC/BTP + Foundry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SAP + SharePoint/OneLake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Foundation MCP; 3–5 questions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C2  Recommendations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daily KPI scan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signals and skills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Foundry scheduled skill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C3  Evaluation engine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progress — close and evidence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Deeper criteria/data models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Foundry evaluation skill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C4  Briefing &amp; synthesis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inbox briefs/digests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sources and automation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cited Outlook/Teams briefs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C5  Agent creation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Gated — governance + lifecycle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governed self-service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create/edit/pause/retire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C6  Institutional memory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documents/transcripts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corpus and retention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AI Search/RAG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C7  Meeting intelligence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Graph + action flows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channels/automation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Graph/manual upload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C8  Peer benchmarking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 — one approved source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Multi-source benchmarking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one-source minimum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C9  Decision traceability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— Dataverse live; export/Purview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Dual audit + full governance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Dataverse + CSV evidence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lineage/audit portion only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025896"/>
            <a:ext cx="3886200" cy="228600"/>
          </a:xfrm>
          <a:prstGeom prst="roundRect">
            <a:avLst>
              <a:gd name="adj" fmla="val 24000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" y="6048756"/>
            <a:ext cx="3831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VELORA: 5 COMPLETE • 2 ACTIVE/PARTIAL • 2 GATED/PLANNED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80560" y="6025896"/>
            <a:ext cx="3182112" cy="228600"/>
          </a:xfrm>
          <a:prstGeom prst="roundRect">
            <a:avLst>
              <a:gd name="adj" fmla="val 24000"/>
            </a:avLst>
          </a:prstGeom>
          <a:solidFill>
            <a:srgbClr val="F29C46"/>
          </a:solidFill>
          <a:ln w="12700">
            <a:solidFill>
              <a:srgbClr val="F29C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7992" y="6048756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PROTIVITI: 9 CLAIMED — NOT YET DELIVERED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799832" y="6025896"/>
            <a:ext cx="2880360" cy="228600"/>
          </a:xfrm>
          <a:prstGeom prst="roundRect">
            <a:avLst>
              <a:gd name="adj" fmla="val 24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27264" y="6048756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MESHX: C1 + DATA-LAYER C9 ONLY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" y="6291072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3B55"/>
                </a:solidFill>
              </a:rPr>
              <a:t>Key point: Protiviti is broader; MeshX is deeper only in governed data/lineage. Velora can reach capability parity without rebuilding the current SAP path.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B7A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484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2 OF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8912" y="69494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Velora must complete to cover Protiviti’s claims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ownership is available; the remaining need is protected capacity, evidence and management decisions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3584448" cy="1856232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27048"/>
            <a:ext cx="64008" cy="1856232"/>
          </a:xfrm>
          <a:prstGeom prst="rect">
            <a:avLst/>
          </a:prstGeom>
          <a:solidFill>
            <a:srgbClr val="F29C46"/>
          </a:solidFill>
          <a:ln w="12700">
            <a:solidFill>
              <a:srgbClr val="F29C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4592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Close the four remaining capability items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929384"/>
            <a:ext cx="332841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C3 — complete structured evaluation and evidence.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C5 — confirm “without IT” governance; prove create/edit/pause/retire.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C8 — demonstrate benchmarking against one approved source.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C9 — complete evidence schema and CSV export; use Dataverse if Purview is delayed.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78808" y="1527048"/>
            <a:ext cx="3584448" cy="1856232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78808" y="1527048"/>
            <a:ext cx="64008" cy="1856232"/>
          </a:xfrm>
          <a:prstGeom prst="rect">
            <a:avLst/>
          </a:prstGeom>
          <a:solidFill>
            <a:srgbClr val="2E8B68"/>
          </a:solidFill>
          <a:ln w="12700">
            <a:solidFill>
              <a:srgbClr val="2E8B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64592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Retest the five capabilities already covered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1929384"/>
            <a:ext cx="332841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C1 — six permission-trimmed SAP queries.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C2 — scheduled KPI recommendations.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C4 — executive briefing and synthesis.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C6 — searchable documents/transcripts.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C7 — meeting intelligence and action flows.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Output: signed tests, screenshots, logs and business acceptance.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00416" y="1527048"/>
            <a:ext cx="3822192" cy="1856232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00416" y="1527048"/>
            <a:ext cx="64008" cy="185623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Add Protiviti-equivalent delivery controls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65008" y="1929384"/>
            <a:ext cx="3566160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Requirements traceability matrix • formal SIT/integration/security/negative-path tests • UAT scripts and CEO/proxy booking • capability-level ADAA evidence • controlled release/rollback • runbooks, monitoring and full internal hypercare.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3A6A6"/>
                </a:solidFill>
              </a:rPr>
              <a:t>ACCOUNTABILITY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58768"/>
          <a:ext cx="11247120" cy="1865376"/>
        </p:xfrm>
        <a:graphic>
          <a:graphicData uri="http://schemas.openxmlformats.org/drawingml/2006/table">
            <a:tbl>
              <a:tblPr/>
              <a:tblGrid>
                <a:gridCol w="1965960"/>
                <a:gridCol w="2944368"/>
                <a:gridCol w="633679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Accountability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 Architect + Project Manager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Architecture, traceability, delivery plan, RAID/defects, documentation and coordination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Abdullah + Infrastructure team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Infrastructure and access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Non-Prod/Prod support, connectivity, environments, production readiness and access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 leads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Lakshmi • Abdelaziz • Kamalesh • Xavier • Rajesh • Kamal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System, integration, permission, security and negative-path testing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 • Shiva • Lakshmi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Business/UAT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UAT scripts, CEO/proxy sessions, expected results and business sign-off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Abdelaziz + Bala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and operations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ADAA evidence pack, runbooks, monitoring, incident ownership and escalation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25312"/>
            <a:ext cx="11247120" cy="429768"/>
          </a:xfrm>
          <a:prstGeom prst="roundRect">
            <a:avLst>
              <a:gd name="adj" fmla="val 10638"/>
            </a:avLst>
          </a:prstGeom>
          <a:solidFill>
            <a:srgbClr val="E4F3EF"/>
          </a:solidFill>
          <a:ln w="12700">
            <a:solidFill>
              <a:srgbClr val="A9D5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016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5D48"/>
                </a:solidFill>
              </a:rPr>
              <a:t>Management position: Phase 1 can be covered internally. Additional resources do not replace the owners above—they create the capacity to fast-track C3/C5/C8/C9 and complete testing/evidence without weakening go-live support.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B7A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484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3 OF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8912" y="69494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path: September completion and beyond-timeline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Phase 1 stable; introduce SAP BDC, Azure AI Foundry/Azure Foundry and SAP DevOps as a governed next phase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3A6A6"/>
                </a:solidFill>
              </a:rPr>
              <a:t>DELIVERY TIMELINE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469880" cy="0"/>
          </a:xfrm>
          <a:prstGeom prst="line">
            <a:avLst/>
          </a:prstGeom>
          <a:noFill/>
          <a:ln w="38100">
            <a:solidFill>
              <a:srgbClr val="AFC2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01952"/>
            <a:ext cx="310896" cy="310896"/>
          </a:xfrm>
          <a:prstGeom prst="ellipse">
            <a:avLst/>
          </a:prstGeom>
          <a:solidFill>
            <a:srgbClr val="13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03B55"/>
                </a:solidFill>
              </a:rPr>
              <a:t>NOW–28 AUG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6002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Close C3/C5/C8/C9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Freeze Phase 1 scope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3657600" y="1901952"/>
            <a:ext cx="310896" cy="310896"/>
          </a:xfrm>
          <a:prstGeom prst="ellipse">
            <a:avLst/>
          </a:prstGeom>
          <a:solidFill>
            <a:srgbClr val="13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03B55"/>
                </a:solidFill>
              </a:rPr>
              <a:t>SEP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246120" y="2286000"/>
            <a:ext cx="16002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SIT • security • UAT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release and evidence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6446520" y="1901952"/>
            <a:ext cx="310896" cy="310896"/>
          </a:xfrm>
          <a:prstGeom prst="ellipse">
            <a:avLst/>
          </a:prstGeom>
          <a:solidFill>
            <a:srgbClr val="F29C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03B55"/>
                </a:solidFill>
              </a:rPr>
              <a:t>30 SEP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16002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Executive issuance /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production go-live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9015984" y="1901952"/>
            <a:ext cx="310896" cy="310896"/>
          </a:xfrm>
          <a:prstGeom prst="ellipse">
            <a:avLst/>
          </a:prstGeom>
          <a:solidFill>
            <a:srgbClr val="13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03B55"/>
                </a:solidFill>
              </a:rPr>
              <a:t>31 OCT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16002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30-day recommendation +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20313C"/>
                </a:solidFill>
              </a:rPr>
              <a:t>evaluation logs complete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52044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62072"/>
            <a:ext cx="64008" cy="2331720"/>
          </a:xfrm>
          <a:prstGeom prst="rect">
            <a:avLst/>
          </a:prstGeom>
          <a:solidFill>
            <a:srgbClr val="2E8B68"/>
          </a:solidFill>
          <a:ln w="12700">
            <a:solidFill>
              <a:srgbClr val="2E8B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980944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Phase 1 software and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264408"/>
            <a:ext cx="326440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M365 Copilot + Teams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Copilot Studio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SAP BTP and SAP-direct MCP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S/4HANA • SuccessFactors • SAC endpoints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Entra delegated identity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Dataverse audit/evidence 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Graph transcript permissions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Non-Prod/Prod access and Infrastructure support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Purview access or approved Dataverse fallback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96512" y="2862072"/>
            <a:ext cx="3794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96512" y="2862072"/>
            <a:ext cx="64008" cy="233172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1104" y="2980944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Beyond September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61104" y="3264408"/>
            <a:ext cx="353872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SAP BDC — governed SAP data products, semantics, KPIs and lineage.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Azure AI Foundry / Azure Foundry — advanced recommendations, evaluations, benchmarking and reusable skills.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SAP BTP + standard MCP — controlled integration layer.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Dataverse + Purview — traceability and governance.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MeshX Foundation or Fabric/OneLake only where management approves a clear, non-duplicative role.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10144" y="2862072"/>
            <a:ext cx="3712464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10144" y="2862072"/>
            <a:ext cx="64008" cy="2331720"/>
          </a:xfrm>
          <a:prstGeom prst="rect">
            <a:avLst/>
          </a:prstGeom>
          <a:solidFill>
            <a:srgbClr val="F29C46"/>
          </a:solidFill>
          <a:ln w="12700">
            <a:solidFill>
              <a:srgbClr val="F29C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4736" y="298094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B55"/>
                </a:solidFill>
              </a:rPr>
              <a:t>SAP DevOps and fast-track resources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74736" y="3264408"/>
            <a:ext cx="3456432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Phase 1: controlled SAP transports, named approvals, version records and rollback—formal SAP DevOps pipeline does not yet exist.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Next phase: source control, automated testing, release gates, repeatable promotion and monitoring.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313C"/>
                </a:solidFill>
              </a:rPr>
              <a:t>Fast-track ask: +1 Copilot/agent developer, +1 QA/UAT/evidence specialist and +1 SAP BDC/Foundry integration engineer.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422392"/>
            <a:ext cx="11247120" cy="868680"/>
          </a:xfrm>
          <a:prstGeom prst="roundRect">
            <a:avLst>
              <a:gd name="adj" fmla="val 5263"/>
            </a:avLst>
          </a:prstGeom>
          <a:solidFill>
            <a:srgbClr val="103B55"/>
          </a:solidFill>
          <a:ln w="12700">
            <a:solidFill>
              <a:srgbClr val="103B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559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90" kern="0" dirty="0">
                <a:solidFill>
                  <a:srgbClr val="78D4D0"/>
                </a:solidFill>
              </a:rPr>
              <a:t>DECISION REQUIRED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2148840" y="5504688"/>
            <a:ext cx="9189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Protect the existing internal owners through go-live and approve a small surge team to fast-track the remaining capabilities. Treat SAP BDC + Azure AI Foundry/Azure Foundry + SAP DevOps as a separately governed next-phase roadmap—not a September re-platforming exercise.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B7A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Velora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Velora Executive AI Agent — Capability and Internal Delivery Follow-up</dc:title>
  <dc:subject>Executive AI Agent capability coverage follow-up</dc:subject>
  <dc:creator>Velora</dc:creator>
  <cp:lastModifiedBy>Velora</cp:lastModifiedBy>
  <cp:revision>1</cp:revision>
  <dcterms:created xsi:type="dcterms:W3CDTF">2026-08-26T09:04:12Z</dcterms:created>
  <dcterms:modified xsi:type="dcterms:W3CDTF">2026-08-26T09:04:12Z</dcterms:modified>
</cp:coreProperties>
</file>